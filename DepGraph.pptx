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6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85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8FAFC"/>
                </a:solidFill>
                <a:latin typeface="Calibri"/>
              </a:defRPr>
            </a:pPr>
            <a:r>
              <a:t>DepGraph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0">
                <a:solidFill>
                  <a:srgbClr val="BDC5D0"/>
                </a:solidFill>
                <a:latin typeface="Calibri"/>
              </a:defRPr>
            </a:pPr>
            <a:r>
              <a:t>Interactive Source Dependency Visualization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Calibri"/>
              </a:rPr>
              <a:t>Parse</a:t>
            </a:r>
            <a:r>
              <a:rPr sz="1300" b="0">
                <a:solidFill>
                  <a:srgbClr val="BDC5D0"/>
                </a:solidFill>
                <a:latin typeface="Calibri"/>
              </a:rPr>
              <a:t>   ·   </a:t>
            </a:r>
            <a:r>
              <a:rPr sz="1300" b="1">
                <a:solidFill>
                  <a:srgbClr val="8B5CF6"/>
                </a:solidFill>
                <a:latin typeface="Calibri"/>
              </a:rPr>
              <a:t>Graph</a:t>
            </a:r>
            <a:r>
              <a:rPr sz="1300" b="0">
                <a:solidFill>
                  <a:srgbClr val="BDC5D0"/>
                </a:solidFill>
                <a:latin typeface="Calibri"/>
              </a:rPr>
              <a:t>   ·   </a:t>
            </a:r>
            <a:r>
              <a:rPr sz="1300" b="1">
                <a:solidFill>
                  <a:srgbClr val="10B981"/>
                </a:solidFill>
                <a:latin typeface="Calibri"/>
              </a:rPr>
              <a:t>Visualize</a:t>
            </a:r>
            <a:r>
              <a:rPr sz="1300" b="0">
                <a:solidFill>
                  <a:srgbClr val="BDC5D0"/>
                </a:solidFill>
                <a:latin typeface="Calibri"/>
              </a:rPr>
              <a:t>   ·   </a:t>
            </a:r>
            <a:r>
              <a:rPr sz="1300" b="1">
                <a:solidFill>
                  <a:srgbClr val="F59E0B"/>
                </a:solidFill>
                <a:latin typeface="Calibri"/>
              </a:rPr>
              <a:t>Detect 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DC5D0"/>
                </a:solidFill>
                <a:latin typeface="Calibri"/>
              </a:defRPr>
            </a:pPr>
            <a:r>
              <a:t>Harrison Stephan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WHY DEPENDENCY GRAPHS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25146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54864" cy="2560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148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Hidden Coupling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4884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>
                <a:solidFill>
                  <a:srgbClr val="BDC5D0"/>
                </a:solidFill>
                <a:latin typeface="Calibri"/>
              </a:defRPr>
            </a:pPr>
            <a:r>
              <a:t>Large codebases accumulate silent dependencies between modules. A change in one file ripples through dozens — nobody knows until it breaks.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508760"/>
            <a:ext cx="25146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508760"/>
            <a:ext cx="54864" cy="2560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45920"/>
            <a:ext cx="2148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Circular 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214884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>
                <a:solidFill>
                  <a:srgbClr val="BDC5D0"/>
                </a:solidFill>
                <a:latin typeface="Calibri"/>
              </a:defRPr>
            </a:pPr>
            <a:r>
              <a:t>Circular imports cause subtle runtime errors, build failures, and prevent clean module decomposition. They’re notoriously hard to spot in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08760"/>
            <a:ext cx="25146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508760"/>
            <a:ext cx="54864" cy="2560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645920"/>
            <a:ext cx="2148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F8FAFC"/>
                </a:solidFill>
                <a:latin typeface="Calibri"/>
              </a:defRPr>
            </a:pPr>
            <a:r>
              <a:t>No Visual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148840" cy="1920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>
                <a:solidFill>
                  <a:srgbClr val="BDC5D0"/>
                </a:solidFill>
                <a:latin typeface="Calibri"/>
              </a:defRPr>
            </a:pPr>
            <a:r>
              <a:t>Most developers have no map of their own codebase. Refactoring, onboarding, and impact analysis become guesswork without a dependency visualization.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BDC5D0"/>
                </a:solidFill>
                <a:latin typeface="Calibri"/>
              </a:defRPr>
            </a:pPr>
            <a:r>
              <a:t>DepGraph gives your codebase a 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What DepGraph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FEATURE OVERVIEW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27048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435608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Three Graph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3736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Node-edge, tree, and dependency matrix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1527048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4608" y="1435608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16-Language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173736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C/C++, JS/TS, Python, Java, Go, Rust, and 10 more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225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231136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Cycle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532888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Tarjan’s SCC highlights circular deps in red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23225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2231136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Flexible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532888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Upload ZIPs, scan dirs; CLI with tree/JSON/DOT/Mermaid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118104"/>
            <a:ext cx="109728" cy="10972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026664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Risk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328416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6-tier risk scoring: critical, high, warning, normal, entry, system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3118104"/>
            <a:ext cx="109728" cy="10972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3026664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Multiple Exports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328416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JSON, PNG, Graphviz DOT, and Mermaid output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9136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3822192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VS Code Extension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4123944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Sidebar views, blast radius, cycle detection from your editor</a:t>
            </a:r>
          </a:p>
        </p:txBody>
      </p:sp>
      <p:sp>
        <p:nvSpPr>
          <p:cNvPr id="25" name="Oval 24"/>
          <p:cNvSpPr/>
          <p:nvPr/>
        </p:nvSpPr>
        <p:spPr>
          <a:xfrm>
            <a:off x="4663440" y="391363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3822192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Analysis Suite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8" y="4123944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Simulation, merge/split, story mode, layering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FLASK BACKEND  +  CYTOSCAPE.JS FRONTEND  +  VS CODE EXTENSION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3840480" cy="3108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84048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27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DC5D0"/>
                </a:solidFill>
                <a:latin typeface="Calibri"/>
              </a:defRPr>
            </a:pPr>
            <a:r>
              <a:t>app.py + graph.py + parsers.py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Flask HTTP server + CLI entry point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Regex parsers for 16 languages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Graph engine with risk classification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Tarjan’s SCC + depth/impact/stability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ZIP upload + rate limiting + CSRF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13 API endpoints incl. simulation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463040"/>
            <a:ext cx="3840480" cy="3108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463040"/>
            <a:ext cx="384048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27048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0F172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92024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DC5D0"/>
                </a:solidFill>
                <a:latin typeface="Calibri"/>
              </a:defRPr>
            </a:pPr>
            <a:r>
              <a:t>index.html + 14 JS modules + style.css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19456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14-module SPA with floating UI panels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Three views: graph, tree, matrix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Dagre layout + squarified tree algorithm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Quick Jump (Cmd+K), keyboard shortcuts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Sidebar: file explorer, cycles, metrics</a:t>
            </a:r>
          </a:p>
          <a:p>
            <a:pPr>
              <a:spcAft>
                <a:spcPts val="800"/>
              </a:spcAft>
              <a:buChar char="•"/>
            </a:pPr>
            <a:r>
              <a:rPr sz="1200" b="0">
                <a:solidFill>
                  <a:srgbClr val="F8FAFC"/>
                </a:solidFill>
                <a:latin typeface="Calibri"/>
              </a:rPr>
              <a:t>JSON / PNG / DOT / Mermaid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709160"/>
            <a:ext cx="2194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Backend  →  JSON  →  Frontend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Multi-Language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16 LANGUAGES — REGEX-BASED IMPORT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C/C++</a:t>
            </a:r>
          </a:p>
        </p:txBody>
      </p:sp>
      <p:sp>
        <p:nvSpPr>
          <p:cNvPr id="6" name="Rectangle 5"/>
          <p:cNvSpPr/>
          <p:nvPr/>
        </p:nvSpPr>
        <p:spPr>
          <a:xfrm>
            <a:off x="1627632" y="1325880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132588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JS/TS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5184" y="1325880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132588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2736" y="1325880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2736" y="132588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90288" y="1325880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32588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325880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32588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5392" y="1325880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32588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C#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52944" y="1325880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2944" y="1325880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Swift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1655064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6550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Ruby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27632" y="1655064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27632" y="16550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Kotlin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15184" y="1655064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5184" y="16550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Scala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2736" y="1655064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16550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PHP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0288" y="1655064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16550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Dart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0" y="1655064"/>
            <a:ext cx="914400" cy="2560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1655064"/>
            <a:ext cx="9144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1">
                <a:solidFill>
                  <a:srgbClr val="06B6D4"/>
                </a:solidFill>
                <a:latin typeface="Calibri"/>
              </a:defRPr>
            </a:pPr>
            <a:r>
              <a:t>Elixir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2011680"/>
            <a:ext cx="4937760" cy="2697480"/>
          </a:xfrm>
          <a:prstGeom prst="round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2121408"/>
            <a:ext cx="4663440" cy="2478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# C / C++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INCLUDE_RE = re.compile(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r'#include\s*(&lt;|")([^&gt;"]+)(&gt;|")')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# JavaScript / TypeScript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JS_IMPORT_RE = re.compile(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r'import\s+.*?from\s+[\'"](.+?)[\'"]'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r'|require\s*\(\s*[\'"](.+?)[\'"]')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# Python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PY_FROM_IMPORT_RE = re.compile(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r'^from\s+(.+?)\s+import', re.MULTILINE)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2057400"/>
            <a:ext cx="73152" cy="7315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9320" y="2075688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System vs. Local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2350008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Angle-bracket includes flagged as system imports, suppressible via hide_system.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06440" y="3017520"/>
            <a:ext cx="73152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3035808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Extensionless Probing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310128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JS/TS imports without extensions probe .js, .jsx, .ts, .tsx, and index.* files.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3977640"/>
            <a:ext cx="7315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3995928"/>
            <a:ext cx="26517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Stdlib Filtering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270248"/>
            <a:ext cx="2651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Frozen stdlib sets for Python, Ruby, and Swift classify system imports without I/O.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Graph 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NODES, EDGES, METRICS, AND COLORING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4754880" cy="3429000"/>
          </a:xfrm>
          <a:prstGeom prst="round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4480560" cy="3209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def _build_graph(directory, hide_system, ...):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nodes, edges, node_set = [], [], set()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files_to_parse = _collect_source_files(...)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known_files = {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os.path.relpath(fp, directory)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for fp in files_to_parse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def _add_edge(source, target):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edges.append({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    "data": {"source": source, "target": target}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})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if target not in node_set: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    nodes.append({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        "data": {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            "id": target,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            "color": _color_for_path(target)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        }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    })</a:t>
            </a:r>
          </a:p>
          <a:p>
            <a:pPr>
              <a:spcAft>
                <a:spcPts val="100"/>
              </a:spcAft>
            </a:pPr>
            <a:r>
              <a:rPr sz="900">
                <a:solidFill>
                  <a:srgbClr val="A5F3FC"/>
                </a:solidFill>
                <a:latin typeface="Consolas"/>
              </a:rPr>
              <a:t>            node_set.add(target)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417320"/>
            <a:ext cx="73152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435608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Deterministic Coloring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755648"/>
            <a:ext cx="2834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Hashes directory name with MD5 into a 20-color cool-tone palette. Same directory = same color.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2606040"/>
            <a:ext cx="73152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624328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Node Sizing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944368"/>
            <a:ext cx="2834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Cytoscape frontend counts inbound edges per node and scales width/height proportionally.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3794760"/>
            <a:ext cx="73152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3813048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Metrics &amp; Risk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133088"/>
            <a:ext cx="28346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Computes depth, impact, stability, reach %, and assigns a 6-tier risk category per node.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Cycle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EF4444"/>
                </a:solidFill>
                <a:latin typeface="Calibri"/>
              </a:defRPr>
            </a:pPr>
            <a:r>
              <a:t>TARJAN’S STRONGLY CONNECTED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4754880" cy="3429000"/>
          </a:xfrm>
          <a:prstGeom prst="round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4480560" cy="3209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def _find_sccs(adj):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index_counter = [0]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stack, indices, lowlinks = [], {}, {}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on_stack, sccs = set(), []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def strongconnect(v):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indices[v] = lowlinks[v] = index_counter[0]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index_counter[0] += 1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stack.append(v); on_stack.add(v)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for w in adj.get(v, []):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if w not in indices: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    strongconnect(w)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    lowlinks[v] = min(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        lowlinks[v], lowlinks[w])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elif w in on_stack: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    lowlinks[v] = min(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        lowlinks[v], indices[w])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if lowlinks[v] == indices[v]: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scc = []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while True: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    w = stack.pop()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    on_stack.remove(w)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    scc.append(w)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    if w == v: break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      sccs.append(scc)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417320"/>
            <a:ext cx="310896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23560" y="1417320"/>
            <a:ext cx="31089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58191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What It Detects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87452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Any SCC with more than one node is a cycle. A→B→C→A is caught as one SCC.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2606040"/>
            <a:ext cx="310896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23560" y="2606040"/>
            <a:ext cx="31089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77063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How It’s Surfaced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06324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Cyclic edges colored red in Cytoscape. Sidebar lists every cycle with a warning banner.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3794760"/>
            <a:ext cx="3108960" cy="960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23560" y="3794760"/>
            <a:ext cx="31089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6440" y="3959352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Complexity: O(V+E)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25196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Linear in the size of the graph. Fast even on large codebases with thousands of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The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CYTOSCAPE.JS + THREE LAYOUTS + THREE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4389120" cy="3520440"/>
          </a:xfrm>
          <a:prstGeom prst="roundRect">
            <a:avLst/>
          </a:prstGeom>
          <a:solidFill>
            <a:srgbClr val="0B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8"/>
            <a:ext cx="411480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cy = cytoscape({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container: document.getElementById('cy'),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elements: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nodes: data.nodes,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edges: data.edges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},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style: [{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selector: 'node',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style: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'background-color': 'data(color)',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'width': 'data(size)',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'height': 'data(size)'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},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selector: 'edge.cyclic',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style: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'line-color': '#EF4444',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  'width': 2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}],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layout: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  name: 'dagre', rankDir: 'TB'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A5F3FC"/>
                </a:solidFill>
                <a:latin typeface="Consolas"/>
              </a:rPr>
              <a:t>});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0" y="1417320"/>
            <a:ext cx="7315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43560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Cytoscape.js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755648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Battle-tested graph library. Three views: node-edge graph, tree, and dependency matrix.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2606040"/>
            <a:ext cx="73152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262432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Three Layouts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944368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Force-directed, hierarchical (dagre), and concentric. Auto-arranges with loading transitions.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57800" y="379476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3813048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14-Module SPA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133088"/>
            <a:ext cx="32004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>
                <a:solidFill>
                  <a:srgbClr val="BDC5D0"/>
                </a:solidFill>
                <a:latin typeface="Calibri"/>
              </a:defRPr>
            </a:pPr>
            <a:r>
              <a:t>graph-core, views, ui, tools, analysis, exports, query, simulation, story, state, tour, timeline, demo-graph, app. CDN: Cytoscape, dagre, Prism.js, Inter font.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API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THIRTEEN ENDPOINTS — GRAPH, ANALYSIS, AND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4937760" cy="3291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493776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Consolas"/>
              </a:rPr>
              <a:t>GET  /api/graph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>  ?dir=./src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>  &amp;hide_system=true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>  &amp;show_c=true  &amp;show_h=true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>  &amp;show_js=false &amp;show_cpp=false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>  &amp;hide_isolated=false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>  &amp;filter_dir=src/core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0B981"/>
                </a:solidFill>
                <a:latin typeface="Consolas"/>
              </a:rPr>
              <a:t>→ { nodes, edges, has_cycles, cycles 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Consolas"/>
              </a:rPr>
              <a:t>POST /api/upload  (multipart/form-data)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>  file: &lt;ZIP archive or source file&gt;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BDC5D0"/>
                </a:solidFill>
                <a:latin typeface="Consolas"/>
              </a:rPr>
              <a:t>  + same filter params as 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371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Response 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Consolas"/>
              </a:rPr>
              <a:t>nodes</a:t>
            </a:r>
            <a:r>
              <a:rPr sz="1000" b="0">
                <a:solidFill>
                  <a:srgbClr val="BDC5D0"/>
                </a:solidFill>
                <a:latin typeface="Calibri"/>
              </a:rPr>
              <a:t>  Array of {id, color, size}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20848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Consolas"/>
              </a:rPr>
              <a:t>edges</a:t>
            </a:r>
            <a:r>
              <a:rPr sz="1000" b="0">
                <a:solidFill>
                  <a:srgbClr val="BDC5D0"/>
                </a:solidFill>
                <a:latin typeface="Calibri"/>
              </a:rPr>
              <a:t>  Array of {source, target, color}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24323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Consolas"/>
              </a:rPr>
              <a:t>has_cycles</a:t>
            </a:r>
            <a:r>
              <a:rPr sz="1000" b="0">
                <a:solidFill>
                  <a:srgbClr val="BDC5D0"/>
                </a:solidFill>
                <a:latin typeface="Calibri"/>
              </a:rPr>
              <a:t>  Boolean — true if SCC &gt;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7797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Consolas"/>
              </a:rPr>
              <a:t>cycles</a:t>
            </a:r>
            <a:r>
              <a:rPr sz="1000" b="0">
                <a:solidFill>
                  <a:srgbClr val="BDC5D0"/>
                </a:solidFill>
                <a:latin typeface="Calibri"/>
              </a:rPr>
              <a:t>  Array of cycle member arrays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24612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Other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61188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BDC5D0"/>
                </a:solidFill>
                <a:latin typeface="Consolas"/>
              </a:defRPr>
            </a:pPr>
            <a:r>
              <a:t>/api/detect  /api/file  /api/diff  /api/layers  /api/rules  /api/simulate  /api/simulate-merge  /api/story  /api/config  /api/csrf-token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WHY THESE TOOLS?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84048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8404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Flask over FastAPI/Django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474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Even with 11 endpoints, Flask’s minimal surface keeps the server lean — no ORM, no migrations, no config layer.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371600"/>
            <a:ext cx="384048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40" y="1371600"/>
            <a:ext cx="38404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Regex over AST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3474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ASTs require per-language toolchains (libclang, tree-sitter). Regex is portable, fast, and sufficient for import extraction.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17520"/>
            <a:ext cx="384048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38404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Cytoscape.js over D3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3474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Purpose-built for graph visualization. Built-in dagre layout, click events, and style selectors mean far less custom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017520"/>
            <a:ext cx="384048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017520"/>
            <a:ext cx="38404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20040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Zero-Build 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566160"/>
            <a:ext cx="347472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No npm, no webpack, no hot-reload. 14 JS modules plus index.html and style.css — all served by Flask’s static folder.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Features in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FILTERS · NAVIGATION · ANALYSIS · EXPORTS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606040" cy="365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606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Toggle 16 languages including C/C++, JS/TS, Python, Java, Go, Rust, Kotlin, Scala, PHP, Dart, Elixir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Hide system/external imports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Auto-detect language mode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Filter to relative directory prefix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Hide isolated nodes (no edges)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60604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71600"/>
            <a:ext cx="2606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Navigation &amp;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202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Quick Jump (Cmd+K) for fuzzy file search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Sidebar: file explorer, cycles, metrics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Risk-based or directory-based coloring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Pan, zoom, minimap, focus lens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Simulation, story mode, layering rules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71600"/>
            <a:ext cx="260604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371600"/>
            <a:ext cx="26060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0F172A"/>
                </a:solidFill>
                <a:latin typeface="Calibri"/>
              </a:defRPr>
            </a:pPr>
            <a:r>
              <a:t>Exports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2423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JSON — full node/edge data with metrics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PNG — canvas snapshot with watermark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DOT — Graphviz with subgraph clustering</a:t>
            </a:r>
          </a:p>
          <a:p>
            <a:pPr>
              <a:spcAft>
                <a:spcPts val="600"/>
              </a:spcAft>
              <a:buChar char="•"/>
            </a:pPr>
            <a:r>
              <a:rPr sz="1000" b="0">
                <a:solidFill>
                  <a:srgbClr val="F8FAFC"/>
                </a:solidFill>
                <a:latin typeface="Calibri"/>
              </a:rPr>
              <a:t>Mermaid — flowchart syntax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0645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0852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What’s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06B6D4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38404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54864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Symbol-Level 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Go beyond file-level to function/class imports — show exactly what each module uses.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371600"/>
            <a:ext cx="38404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37160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5087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Monorepo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87452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Handle multi-package repos (yarn workspaces, Go modules, Cargo workspaces) as first-class citizens.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38404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74320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803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Live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4612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Real-time multi-user graph exploration with shared cursors and annotations.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743200"/>
            <a:ext cx="384048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2743200"/>
            <a:ext cx="54864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88036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Plugin 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246120"/>
            <a:ext cx="34747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Extensible architecture for custom parsers, analysis rules, and third-party integrations.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7863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DC5D0"/>
                </a:solidFill>
                <a:latin typeface="Calibri"/>
              </a:defRPr>
            </a:pPr>
            <a:r>
              <a:t>Built with Flask  ·  Cytoscape.js  ·  Python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