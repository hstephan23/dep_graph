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-73152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8FAFC"/>
                </a:solidFill>
                <a:latin typeface="Calibri"/>
              </a:defRPr>
            </a:pPr>
            <a:r>
              <a:t>DepGraph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BDC5D0"/>
                </a:solidFill>
                <a:latin typeface="Calibri"/>
              </a:defRPr>
            </a:pPr>
            <a:r>
              <a:t>Interactive Source Dependency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Calibri"/>
              </a:rPr>
              <a:t>Parse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8B5CF6"/>
                </a:solidFill>
                <a:latin typeface="Calibri"/>
              </a:rPr>
              <a:t>Graph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10B981"/>
                </a:solidFill>
                <a:latin typeface="Calibri"/>
              </a:rPr>
              <a:t>Visualize</a:t>
            </a:r>
            <a:r>
              <a:rPr sz="1300" b="0">
                <a:solidFill>
                  <a:srgbClr val="BDC5D0"/>
                </a:solidFill>
                <a:latin typeface="Calibri"/>
              </a:rPr>
              <a:t xml:space="preserve">   ·   </a:t>
            </a:r>
            <a:r>
              <a:rPr sz="1300" b="1">
                <a:solidFill>
                  <a:srgbClr val="F59E0B"/>
                </a:solidFill>
                <a:latin typeface="Calibri"/>
              </a:rPr>
              <a:t>Detect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Harrison Stephan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DEPENDENCY GRAPHS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54864" cy="2560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Hidden Coupling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Large codebases accumulate silent dependencies between modules. A change in one file ripples through dozens — nobody knows until it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60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Circular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Circular imports cause subtle runtime errors, build failures, and prevent clean module decomposition. They’re notoriously hard to spot in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08760"/>
            <a:ext cx="25146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508760"/>
            <a:ext cx="54864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45920"/>
            <a:ext cx="2148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8FAFC"/>
                </a:solidFill>
                <a:latin typeface="Calibri"/>
              </a:defRPr>
            </a:pPr>
            <a:r>
              <a:t>No Visual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214884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50" b="0">
                <a:solidFill>
                  <a:srgbClr val="BDC5D0"/>
                </a:solidFill>
                <a:latin typeface="Calibri"/>
              </a:defRPr>
            </a:pPr>
            <a:r>
              <a:t>Most developers have no map of their own codebase. Refactoring, onboarding, and impact analysis become guesswork without a dependency visualization.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BDC5D0"/>
                </a:solidFill>
                <a:latin typeface="Calibri"/>
              </a:defRPr>
            </a:pPr>
            <a:r>
              <a:t>DepGraph gives your codebase a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 DepGraph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FEATURE OVERVIEW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527048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Three Powerful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Graph, dependency tree, and layered architecture explorer</a:t>
            </a:r>
          </a:p>
        </p:txBody>
      </p:sp>
      <p:sp>
        <p:nvSpPr>
          <p:cNvPr id="7" name="Oval 6"/>
          <p:cNvSpPr/>
          <p:nvPr/>
        </p:nvSpPr>
        <p:spPr>
          <a:xfrm>
            <a:off x="4663440" y="1527048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1435608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16-Language Parsing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1737360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C/C++, JS/TS, Python, Java, Go, Rust, and 10 more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22576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Tarjan’s SCC highlights circular deps in red</a:t>
            </a:r>
          </a:p>
        </p:txBody>
      </p:sp>
      <p:sp>
        <p:nvSpPr>
          <p:cNvPr id="13" name="Oval 12"/>
          <p:cNvSpPr/>
          <p:nvPr/>
        </p:nvSpPr>
        <p:spPr>
          <a:xfrm>
            <a:off x="4663440" y="2322576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231136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Flexible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532888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Upload ZIPs, scan dirs; CLI with tree/JSON/DOT/Mermaid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118104"/>
            <a:ext cx="109728" cy="10972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Risk Classification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6-tier risk scoring: critical, high, warning, normal, entry, system</a:t>
            </a:r>
          </a:p>
        </p:txBody>
      </p:sp>
      <p:sp>
        <p:nvSpPr>
          <p:cNvPr id="19" name="Oval 18"/>
          <p:cNvSpPr/>
          <p:nvPr/>
        </p:nvSpPr>
        <p:spPr>
          <a:xfrm>
            <a:off x="4663440" y="3118104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026664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Multiple Exports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3328416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JSON, PNG, Graphviz DOT, and Mermaid output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913632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VS Code Extension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Graph, tree, and layers views with full analysis from your editor</a:t>
            </a:r>
          </a:p>
        </p:txBody>
      </p:sp>
      <p:sp>
        <p:nvSpPr>
          <p:cNvPr id="25" name="Oval 24"/>
          <p:cNvSpPr/>
          <p:nvPr/>
        </p:nvSpPr>
        <p:spPr>
          <a:xfrm>
            <a:off x="4663440" y="391363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3822192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Analysis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4123944"/>
            <a:ext cx="35661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Simulation, merge/split, story mode, guided tour, timeline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FLASK BACKEND  +  CYTOSCAPE.JS FRONTEND  +  VS CODE EXTENSION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384048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app.py + graph.py + parsers.py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Flask HTTP server + CLI entry point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Regex parsers for 16 languages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Graph engine with risk classification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Tarjan’s SCC + depth/impact/stability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ZIP upload + rate limiting + CSRF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13 API endpoints incl. simulation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463040"/>
            <a:ext cx="3840480" cy="3108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527048"/>
            <a:ext cx="34747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92024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alibri"/>
              </a:defRPr>
            </a:pPr>
            <a:r>
              <a:t>index.html + 14 JS modules + style.css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19456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14-module SPA with floating UI panels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Three views: graph, tree, and layers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Dagre layout + squarified tree algorithm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Quick Jump (Cmd+K), keyboard shortcuts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800"/>
              </a:spcAft>
              <a:buChar char="•"/>
            </a:pPr>
            <a:r>
              <a:rPr sz="1200" b="0">
                <a:solidFill>
                  <a:srgbClr val="F8FAFC"/>
                </a:solidFill>
                <a:latin typeface="Calibri"/>
              </a:rPr>
              <a:t>JSON / PNG / DOT / Mermaid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709160"/>
            <a:ext cx="2194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Backend  →  JSON  → 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Multi-Language Parsing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16 LANGUAGES — REGEX-BASED IMPORT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C/C++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JS/TS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1518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Java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C#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2944" y="1325880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Swift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Ruby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Kotlin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15184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Scala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PHP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Dart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655064"/>
            <a:ext cx="914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06B6D4"/>
                </a:solidFill>
                <a:latin typeface="Calibri"/>
              </a:defRPr>
            </a:pPr>
            <a:r>
              <a:t>Elixir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2011680"/>
            <a:ext cx="4937760" cy="269748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2121408"/>
            <a:ext cx="4663440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C / C++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INCLUDE_RE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r'#include\s*(&lt;|")([^&gt;"]+)(&gt;|")')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JavaScript / TypeScript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JS_IMPORT_RE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r'import\s+.*?from\s+[\'"](.+?)[\'"]'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r'|require\s*\(\s*[\'"](.+?)[\'"]')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# Python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PY_FROM_IMPORT_RE = re.compile(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r'^from\s+(.+?)\s+import', re.MULTILINE)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2057400"/>
            <a:ext cx="73152" cy="731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207568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System vs. Local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35000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Angle-bracket includes flagged as system imports, suppressible via hide_system.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017520"/>
            <a:ext cx="73152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303580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Extensionless Probing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31012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JS/TS imports without extensions probe .js, .jsx, .ts, .tsx, and index.* files.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39776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3995928"/>
            <a:ext cx="26517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Stdlib Filtering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27024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Frozen stdlib sets for Python, Ruby, and Swift classify system imports without I/O.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Graph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NODES, EDGES, METRICS, AND COLORING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>def _build_graph(directory, hide_system, ...):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nodes, edges, node_set = [], [], set()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files_to_parse = _collect_source_files(...)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known_files =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os.path.relpath(fp, directory)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for fp in files_to_parse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def _add_edge(source, target):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edges.append({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"data": {"source": source, "target": target}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if target not in node_set: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nodes.append({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"data": {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"id": target,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    "color": _color_for_path(target)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    }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})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A5F3FC"/>
                </a:solidFill>
                <a:latin typeface="Consolas"/>
              </a:rPr>
              <a:t xml:space="preserve">            node_set.add(target)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73152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43560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Deterministic Coloring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75564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Hashes directory name with MD5 into a 20-color cool-tone palette. Same directory = same color.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2606040"/>
            <a:ext cx="73152" cy="868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62432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Node Sizing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94436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Cytoscape frontend counts inbound edges per node and scales width/height proportionally.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3794760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3813048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Metrics &amp; Risk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133088"/>
            <a:ext cx="2834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Computes depth, impact, stability, reach %, and assigns a 6-tier risk category per node.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Cycle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EF4444"/>
                </a:solidFill>
                <a:latin typeface="Calibri"/>
              </a:defRPr>
            </a:pPr>
            <a:r>
              <a:t>TARJAN’S STRONGLY CONNECTED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754880" cy="342900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480560" cy="3209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def _find_sccs(adj):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index_counter = 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stack, indices, lowlinks = [], {}, {}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on_stack, sccs = set(),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def strongconnect(v):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indices[v] = lowlinks[v] = index_counter[0]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index_counter[0] += 1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stack.append(v); on_stack.add(v)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for w in adj.get(v, []):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if w not in indices: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strongconnect(w)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lowlinks[w])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elif w in on_stack: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lowlinks[v] = min(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    lowlinks[v], indices[w])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/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if lowlinks[v] == indices[v]: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 = []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while True: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w = stack.pop()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on_stack.remove(w)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scc.append(w)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    if w == v: break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      sccs.append(scc)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3560" y="141732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560" y="1417320"/>
            <a:ext cx="310896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5819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What It Detects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87452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Any SCC with more than one node is a cycle. A→B→C→A is caught as one SCC.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60604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2606040"/>
            <a:ext cx="310896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77063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How It’s Surfaced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0632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Cyclic edges colored red in Cytoscape. Sidebar lists every cycle with a warning banner.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794760"/>
            <a:ext cx="310896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23560" y="3794760"/>
            <a:ext cx="310896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39593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8FAFC"/>
                </a:solidFill>
                <a:latin typeface="Calibri"/>
              </a:defRPr>
            </a:pPr>
            <a:r>
              <a:t>Complexity: O(V+E)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Linear in the size of the graph. Fast even on large codebases with thousands of files.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CYTOSCAPE.JS + FORCE LAYOUT + THREE 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89120" cy="352044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114800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cy = cytoscape({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container: document.getElementById('cy'),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elements: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nodes: data.nodes,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edges: data.edges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style: [{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'node',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'background-color': 'data(color)',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'data(size)',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'height': 'data(size)'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},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selector: 'edge.cyclic',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style: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'line-color': '#EF4444',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  'width': 2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}],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layout: {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  name: 'cose', nodeRepulsion: () =&gt; 80000000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  }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});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41732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143560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Cytoscape.js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5564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Battle-tested graph library. Three views: graph, dependency tree, and layered architecture.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606040"/>
            <a:ext cx="73152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62432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Force Layout + Focus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94436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Force-directed layout with zoom-aware focus lens that magnifies nodes on hover, scaling with zoom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7947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14-Module SPA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3308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graph-core, views, ui, tools, analysis, exports, query, simulation, story, state, tour, timeline, layers, app. CDN: Cytoscape, dagre, Prism.js, Inter font.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API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THIRTEEN ENDPOINTS — GRAPH, ANALYSIS, AND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4937760" cy="3291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493776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GET  /api/graph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?dir=./src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&amp;hide_system=true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&amp;show_c=true  &amp;show_h=true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&amp;show_js=false &amp;show_cpp=false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&amp;hide_isolated=false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&amp;filter_dir=src/core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Consolas"/>
              </a:rPr>
              <a:t>→ { nodes, edges, has_cycles, cycles }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06B6D4"/>
                </a:solidFill>
                <a:latin typeface="Consolas"/>
              </a:rPr>
              <a:t>POST /api/upload  (multipart/form-data)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file: &lt;ZIP archive or source file&gt;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BDC5D0"/>
                </a:solidFill>
                <a:latin typeface="Consolas"/>
              </a:rPr>
              <a:t xml:space="preserve">  + same filter params as 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37160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Response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737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nodes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{id, color, size}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edges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{source, target, color}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4323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has_cycles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Boolean — true if SCC &gt;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7797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6B6D4"/>
                </a:solidFill>
                <a:latin typeface="Consolas"/>
              </a:rPr>
              <a:t>cycles</a:t>
            </a:r>
            <a:r>
              <a:rPr sz="1000" b="0">
                <a:solidFill>
                  <a:srgbClr val="BDC5D0"/>
                </a:solidFill>
                <a:latin typeface="Calibri"/>
              </a:rPr>
              <a:t xml:space="preserve">  Array of cycle member arrays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3246120"/>
            <a:ext cx="3017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Other 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3611880"/>
            <a:ext cx="30175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>
                <a:solidFill>
                  <a:srgbClr val="BDC5D0"/>
                </a:solidFill>
                <a:latin typeface="Consolas"/>
              </a:defRPr>
            </a:pPr>
            <a:r>
              <a:t>/api/detect  /api/file  /api/diff  /api/layers  /api/rules  /api/simulate  /api/simulate-merge  /api/github  /api/story  /api/config  /api/csrf-token   ·   dev-only: /api/churn, /api/churn-remote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WHY THESE TOOLS?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8404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Flask over FastAPI/Django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Even with 13 endpoints (plus 2 dev-only), Flask’s minimal surface keeps the server lean — no ORM, no migrations, no config layer.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38404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55448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Regex over AST Parsing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2024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ASTs require per-language toolchains (libclang, tree-sitter). Regex is portable, fast, and sufficient for import extraction.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38404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Cytoscape.js over D3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Purpose-built for graph visualization. Built-in dagre layout, click events, and style selectors mean far less custom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017520"/>
            <a:ext cx="3840480" cy="1463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3017520"/>
            <a:ext cx="38404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320040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Zero-Build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566160"/>
            <a:ext cx="34747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No npm, no webpack, no hot-reload. 14 JS modules plus index.html and style.css — all served by Flask’s static folder.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Features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FILTERS · NAVIGATION · ANALYSIS · EXPORTS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Filters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Toggle 16 languages including C/C++, JS/TS, Python, Java, Go, Rust, Kotlin, Scala, PHP, Dart, Elixir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system/external imports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Auto-detect language mode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Filter to relative directory prefix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Hide isolated nodes (no edges)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Navigation &amp;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Quick Jump (Cmd+K) for fuzzy file search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Sidebar: file explorer, cycles,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Risk-based or directory-based coloring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Pan, zoom, minimap, responsive toolbar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Guided tour, timeline, insights, layers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371600"/>
            <a:ext cx="26060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Exports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20240"/>
            <a:ext cx="2423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JSON — full node/edge data with metrics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PNG — canvas snapshot with watermark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DOT — Graphviz with subgraph clustering</a:t>
            </a:r>
          </a:p>
          <a:p>
            <a:pPr>
              <a:spcAft>
                <a:spcPts val="600"/>
              </a:spcAft>
              <a:buChar char="•"/>
            </a:pPr>
            <a:r>
              <a:rPr sz="1000" b="0">
                <a:solidFill>
                  <a:srgbClr val="F8FAFC"/>
                </a:solidFill>
                <a:latin typeface="Calibri"/>
              </a:rPr>
              <a:t>Mermaid — flowchart syntax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2286000"/>
            <a:ext cx="4572000" cy="4572000"/>
          </a:xfrm>
          <a:prstGeom prst="ellipse">
            <a:avLst/>
          </a:prstGeom>
          <a:solidFill>
            <a:srgbClr val="064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2926080"/>
            <a:ext cx="3200400" cy="3200400"/>
          </a:xfrm>
          <a:prstGeom prst="ellipse">
            <a:avLst/>
          </a:prstGeom>
          <a:solidFill>
            <a:srgbClr val="085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FUTURE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4864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Symbol-Level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Go beyond file-level to function/class imports — show exactly what each module uses.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3716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54864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5087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Monorepo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745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Handle multi-package repos (yarn workspaces, Go modules, Cargo workspaces) as first-class citizens.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54864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Live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Real-time multi-user graph exploration with shared cursors and annotations.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743200"/>
            <a:ext cx="3840480" cy="1234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2743200"/>
            <a:ext cx="54864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880360"/>
            <a:ext cx="3474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8FAFC"/>
                </a:solidFill>
                <a:latin typeface="Calibri"/>
              </a:defRPr>
            </a:pPr>
            <a:r>
              <a:t>Plugin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246120"/>
            <a:ext cx="3474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Extensible architecture for custom parsers, analysis rules, and third-party integrations.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BDC5D0"/>
                </a:solidFill>
                <a:latin typeface="Calibri"/>
              </a:defRPr>
            </a:pPr>
            <a:r>
              <a:t>Built with Flask  ·  Cytoscape.js  · 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Layers Architecture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06B6D4"/>
                </a:solidFill>
                <a:latin typeface="Calibri"/>
              </a:defRPr>
            </a:pPr>
            <a:r>
              <a:t>SWIM-LANE LAYOUT + VIOLATION DETECTION + DRAG SIMULATION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89120" cy="3520440"/>
          </a:xfrm>
          <a:prstGeom prst="round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4114800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>// Define custom architecture layers: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ui, service, data, util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
// Auto-detection by dependency depth: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L0  Entry points (app.js, main.py)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L1  Service modules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L2  Data access / utilities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L3  Shared helpers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
// Violations: deeper -&gt; shallower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data/db.js -&gt; ui/App.jsx     VIOLATION</a:t>
            </a:r>
          </a:p>
          <a:p>
            <a:pPr>
              <a:spcAft>
                <a:spcPts val="100"/>
              </a:spcAft>
            </a:pPr>
            <a:r>
              <a:rPr sz="850">
                <a:solidFill>
                  <a:srgbClr val="A5F3FC"/>
                </a:solidFill>
                <a:latin typeface="Consolas"/>
              </a:rPr>
              <a:t xml:space="preserve">util/log.js -&gt; service/auth.js  VIOLATION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417320"/>
            <a:ext cx="73152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143560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Swim-Lane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75564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Nodes arranged in horizontal layers by dependency depth. Barycenter heuristic minimizes edge crossings. Directory clustering keeps related files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606040"/>
            <a:ext cx="73152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62432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Violation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94436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Imports pointing upward (deeper file importing shallower) are flagged with pulsing amber dashed edges. Worst offenders shown in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57800" y="37947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8FAFC"/>
                </a:solidFill>
                <a:latin typeface="Calibri"/>
              </a:defRPr>
            </a:pPr>
            <a:r>
              <a:t>Drag-to-Reassign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133088"/>
            <a:ext cx="32004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50" b="0">
                <a:solidFill>
                  <a:srgbClr val="BDC5D0"/>
                </a:solidFill>
                <a:latin typeface="Calibri"/>
              </a:defRPr>
            </a:pPr>
            <a:r>
              <a:t>Drag nodes between layers to simulate architectural changes. Per-file overrides with instant re-layout and violation recalculation.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